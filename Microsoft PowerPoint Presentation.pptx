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D1117"/>
    <a:srgbClr val="000001"/>
    <a:srgbClr val="0102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22" d="100"/>
          <a:sy n="122" d="100"/>
        </p:scale>
        <p:origin x="132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B91A7D-2279-565D-EBCF-BB0DE04429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4DC493D-ABA6-35F5-9DAC-996CE2210BC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78EE4D-1C04-2ED2-7731-F0159AE2A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D8440C-255C-460F-80D1-355B1E760C89}" type="datetimeFigureOut">
              <a:rPr lang="ru-RU" smtClean="0"/>
              <a:t>11.11.2025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3B0720-3927-B598-C75D-75735F2D27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6182EE-7E44-654D-AC3E-041F2BFAE8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571517-5D3E-4952-A3E8-F5EA09B50C0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224075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E51DD9-DFA8-A98D-DB75-26D2789B23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C1CBA9-E632-7703-3C3F-5A3D0F774A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F24654-E64B-1B7B-AD3C-83F181B845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D8440C-255C-460F-80D1-355B1E760C89}" type="datetimeFigureOut">
              <a:rPr lang="ru-RU" smtClean="0"/>
              <a:t>11.11.2025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B080C8-92F5-1D47-ACDC-52E22679B0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88F2C5-585B-208B-E52B-4FE3ADAE13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571517-5D3E-4952-A3E8-F5EA09B50C0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342211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167592-5F39-5723-9BB5-B9B24B27C1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425B25-C1D8-A409-E514-FCDB6C667D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F3D128-F465-E869-F91A-0833AD3BD3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D8440C-255C-460F-80D1-355B1E760C89}" type="datetimeFigureOut">
              <a:rPr lang="ru-RU" smtClean="0"/>
              <a:t>11.11.2025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875A43-E116-FE94-8F53-BCAD1DDB5E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A63BDE-ABD8-319C-5522-C0B8514D3B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571517-5D3E-4952-A3E8-F5EA09B50C0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940538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CFC06E-9038-1489-9E35-8E75D4EC2F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2A3FBA-8AC6-AFB7-FC96-DA77B93722C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126906-8F99-A3A9-EAF4-076A79F717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7B1851-03A7-1BAD-1981-BD7571D328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D8440C-255C-460F-80D1-355B1E760C89}" type="datetimeFigureOut">
              <a:rPr lang="ru-RU" smtClean="0"/>
              <a:t>11.11.2025</a:t>
            </a:fld>
            <a:endParaRPr lang="ru-R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6CA64FE-E36E-4E06-B5D8-DE7A7D851B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113556-C38E-4BFB-7C64-7448C0F240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571517-5D3E-4952-A3E8-F5EA09B50C0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932082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36A6BE-DFD7-1B36-C70F-7CCF98CD87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919E56-1ABF-A30F-CF99-F82E425B38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1C7AEC7-49A1-2817-A593-C4D1078760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028129C-9766-A624-D3ED-F6DFE727FAE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60D76BF-6A3A-D0DF-8BE9-2083541873B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8CE6573-A031-D487-69F8-EABCC04E6A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D8440C-255C-460F-80D1-355B1E760C89}" type="datetimeFigureOut">
              <a:rPr lang="ru-RU" smtClean="0"/>
              <a:t>11.11.2025</a:t>
            </a:fld>
            <a:endParaRPr lang="ru-R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4EF8270-6C1E-951B-C141-43E1AAEF06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724D837-5E94-645C-25C1-9C6F1AC20C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571517-5D3E-4952-A3E8-F5EA09B50C0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620026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C3E008-47C3-FCF7-6B69-4D91A10C07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DA14847-D678-D740-2192-A65D663FD2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D8440C-255C-460F-80D1-355B1E760C89}" type="datetimeFigureOut">
              <a:rPr lang="ru-RU" smtClean="0"/>
              <a:t>11.11.2025</a:t>
            </a:fld>
            <a:endParaRPr lang="ru-R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9148B07-5D73-9269-E79B-130EA8B71F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DA44CD2-C15F-6F28-F7B6-3AA2608087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571517-5D3E-4952-A3E8-F5EA09B50C0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878082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CD35600-ACB3-7DB9-5FB4-679414A7DC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D8440C-255C-460F-80D1-355B1E760C89}" type="datetimeFigureOut">
              <a:rPr lang="ru-RU" smtClean="0"/>
              <a:t>11.11.2025</a:t>
            </a:fld>
            <a:endParaRPr lang="ru-R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EB93F1B-4499-4572-D425-BD7C167E3D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546206-729B-DA2A-9F2B-077E54F62E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571517-5D3E-4952-A3E8-F5EA09B50C0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398368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D9915A-A04A-CE75-887B-804152E496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902C56-C8B8-DA62-C57C-808120639E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086C27-BF25-455F-EC8D-BBBACADB53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3AA15B-9BD4-D8EA-0897-0362A7EC25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D8440C-255C-460F-80D1-355B1E760C89}" type="datetimeFigureOut">
              <a:rPr lang="ru-RU" smtClean="0"/>
              <a:t>11.11.2025</a:t>
            </a:fld>
            <a:endParaRPr lang="ru-R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9CDF2C-2A8F-26AB-9B57-8ED808818A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E08A80-139C-3989-1F79-EE71F084FF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571517-5D3E-4952-A3E8-F5EA09B50C0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353008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D67D53-AA39-3258-F247-7BA354FD93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B554E8A-E77E-5F14-3703-08CC4611061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AA2B634-78FB-595A-C149-6242C7124E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4E55175-E7F5-BF66-1261-A9EE42DA66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D8440C-255C-460F-80D1-355B1E760C89}" type="datetimeFigureOut">
              <a:rPr lang="ru-RU" smtClean="0"/>
              <a:t>11.11.2025</a:t>
            </a:fld>
            <a:endParaRPr lang="ru-R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33B1A39-A279-B47D-2BAA-688E804BEA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8537E63-EF76-6710-480F-EA9448BD31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571517-5D3E-4952-A3E8-F5EA09B50C0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557751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2EC46A-50B2-39C6-E109-0882BF4D11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8AD6C6E-4958-FC3B-9B1A-8CD9CAAA5E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77B6FB-9BC5-B42F-3D31-BA8FDFDC63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D8440C-255C-460F-80D1-355B1E760C89}" type="datetimeFigureOut">
              <a:rPr lang="ru-RU" smtClean="0"/>
              <a:t>11.11.2025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985425-2A40-B94C-0EB6-4C61F56BBE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69D6B0-3BB7-58BC-6F44-6FBBBE28BD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571517-5D3E-4952-A3E8-F5EA09B50C0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205837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86729B7-BB4E-6F7C-9C2F-952EC0D4E2E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83EB1E3-CDD2-9701-1B77-978A9338A6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04310C-3CD1-1921-F754-77DC167248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D8440C-255C-460F-80D1-355B1E760C89}" type="datetimeFigureOut">
              <a:rPr lang="ru-RU" smtClean="0"/>
              <a:t>11.11.2025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D23B89-724F-030E-4F9C-F376E699F0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178FC8-5AB8-283A-2E43-E49D1B1429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571517-5D3E-4952-A3E8-F5EA09B50C0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049599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6E55EB1-4734-FDC9-99EF-8F4428BAA5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C86C69-E0A8-7818-D850-A7F2CEDD46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DBB107-05E0-DEE4-4A1E-D965EB6617E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1D8440C-255C-460F-80D1-355B1E760C89}" type="datetimeFigureOut">
              <a:rPr lang="ru-RU" smtClean="0"/>
              <a:t>11.11.2025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641E1A-E03E-5E19-F271-E28002A9E14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1862FA-E3F6-019A-49C8-65FF9CF9BF6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8571517-5D3E-4952-A3E8-F5EA09B50C0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256830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5" Type="http://schemas.microsoft.com/office/2007/relationships/hdphoto" Target="../media/hdphoto1.wdp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FA429EC-DB53-E26C-EE05-F57CEF8A759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10233"/>
              </a:gs>
              <a:gs pos="100000">
                <a:srgbClr val="000001"/>
              </a:gs>
            </a:gsLst>
            <a:lin ang="5400000" scaled="1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7000" spc="-300" dirty="0">
              <a:latin typeface="Monotype Corsiva" panose="03010101010201010101" pitchFamily="66" charset="0"/>
              <a:ea typeface="Monaspace Neon ExtraBold" panose="02000009000000000000" pitchFamily="49" charset="0"/>
              <a:cs typeface="Monaspace Neon ExtraBold" panose="02000009000000000000" pitchFamily="49" charset="0"/>
            </a:endParaRPr>
          </a:p>
        </p:txBody>
      </p:sp>
      <p:pic>
        <p:nvPicPr>
          <p:cNvPr id="11" name="Picture 10" descr="A screenshot of a video game&#10;&#10;AI-generated content may be incorrect.">
            <a:extLst>
              <a:ext uri="{FF2B5EF4-FFF2-40B4-BE49-F238E27FC236}">
                <a16:creationId xmlns:a16="http://schemas.microsoft.com/office/drawing/2014/main" id="{0828EF15-F934-5A62-1C40-D8D1AB1CD12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5400"/>
            <a:ext cx="12192000" cy="690879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8016C5A-1EC8-2B96-DBE3-F46FBAB01E96}"/>
              </a:ext>
            </a:extLst>
          </p:cNvPr>
          <p:cNvSpPr txBox="1"/>
          <p:nvPr/>
        </p:nvSpPr>
        <p:spPr>
          <a:xfrm>
            <a:off x="225425" y="1828562"/>
            <a:ext cx="9117693" cy="18620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500" b="1" spc="-300" dirty="0">
                <a:solidFill>
                  <a:schemeClr val="bg1"/>
                </a:solidFill>
                <a:latin typeface="Unbounded" pitchFamily="2" charset="-52"/>
                <a:ea typeface="Monaspace Neon ExtraBold" panose="02000009000000000000" pitchFamily="49" charset="0"/>
                <a:cs typeface="Monaspace Neon ExtraBold" panose="02000009000000000000" pitchFamily="49" charset="0"/>
              </a:rPr>
              <a:t>Portfolio.</a:t>
            </a:r>
            <a:endParaRPr lang="ru-RU" sz="11500" b="1" spc="-300" dirty="0">
              <a:solidFill>
                <a:schemeClr val="bg1"/>
              </a:solidFill>
              <a:latin typeface="Unbounded" pitchFamily="2" charset="-52"/>
              <a:ea typeface="Monaspace Neon ExtraBold" panose="02000009000000000000" pitchFamily="49" charset="0"/>
              <a:cs typeface="Monaspace Neon ExtraBold" panose="02000009000000000000" pitchFamily="49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CF94D98-B579-0CB5-14F4-6E3A73128267}"/>
              </a:ext>
            </a:extLst>
          </p:cNvPr>
          <p:cNvSpPr txBox="1"/>
          <p:nvPr/>
        </p:nvSpPr>
        <p:spPr>
          <a:xfrm>
            <a:off x="225425" y="3690610"/>
            <a:ext cx="6162674" cy="8249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D6D6DD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b="0" dirty="0">
                <a:solidFill>
                  <a:srgbClr val="E4E4E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F8C762"/>
                </a:solidFill>
                <a:effectLst/>
                <a:latin typeface="Consolas" panose="020B0609020204030204" pitchFamily="49" charset="0"/>
              </a:rPr>
              <a:t>**[</a:t>
            </a:r>
            <a:r>
              <a:rPr lang="en-US" b="0" dirty="0">
                <a:solidFill>
                  <a:srgbClr val="AAA0FA"/>
                </a:solidFill>
                <a:effectLst/>
                <a:latin typeface="Consolas" panose="020B0609020204030204" pitchFamily="49" charset="0"/>
              </a:rPr>
              <a:t>Wezeso</a:t>
            </a:r>
            <a:r>
              <a:rPr lang="en-US" b="0" dirty="0">
                <a:solidFill>
                  <a:srgbClr val="F8C762"/>
                </a:solidFill>
                <a:effectLst/>
                <a:latin typeface="Consolas" panose="020B0609020204030204" pitchFamily="49" charset="0"/>
              </a:rPr>
              <a:t>]**</a:t>
            </a:r>
            <a:r>
              <a:rPr lang="en-US" b="0" dirty="0">
                <a:solidFill>
                  <a:srgbClr val="E4E4E4"/>
                </a:solidFill>
                <a:effectLst/>
                <a:latin typeface="Consolas" panose="020B0609020204030204" pitchFamily="49" charset="0"/>
              </a:rPr>
              <a:t> - UI/UX &amp; Branding Designer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D6D6DD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b="0" dirty="0">
                <a:solidFill>
                  <a:srgbClr val="E4E4E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F8C762"/>
                </a:solidFill>
                <a:effectLst/>
                <a:latin typeface="Consolas" panose="020B0609020204030204" pitchFamily="49" charset="0"/>
              </a:rPr>
              <a:t>**[</a:t>
            </a:r>
            <a:r>
              <a:rPr lang="en-US" b="0" dirty="0">
                <a:solidFill>
                  <a:srgbClr val="AAA0FA"/>
                </a:solidFill>
                <a:effectLst/>
                <a:latin typeface="Consolas" panose="020B0609020204030204" pitchFamily="49" charset="0"/>
              </a:rPr>
              <a:t>Sardor</a:t>
            </a:r>
            <a:r>
              <a:rPr lang="en-US" b="0" dirty="0">
                <a:solidFill>
                  <a:srgbClr val="F8C762"/>
                </a:solidFill>
                <a:effectLst/>
                <a:latin typeface="Consolas" panose="020B0609020204030204" pitchFamily="49" charset="0"/>
              </a:rPr>
              <a:t>]**</a:t>
            </a:r>
            <a:r>
              <a:rPr lang="en-US" b="0" dirty="0">
                <a:solidFill>
                  <a:srgbClr val="E4E4E4"/>
                </a:solidFill>
                <a:effectLst/>
                <a:latin typeface="Consolas" panose="020B0609020204030204" pitchFamily="49" charset="0"/>
              </a:rPr>
              <a:t> - Full-Stack Developer  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D6D6DD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b="0" dirty="0">
                <a:solidFill>
                  <a:srgbClr val="E4E4E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F8C762"/>
                </a:solidFill>
                <a:effectLst/>
                <a:latin typeface="Consolas" panose="020B0609020204030204" pitchFamily="49" charset="0"/>
              </a:rPr>
              <a:t>**[</a:t>
            </a:r>
            <a:r>
              <a:rPr lang="en-US" b="0" dirty="0">
                <a:solidFill>
                  <a:srgbClr val="AAA0FA"/>
                </a:solidFill>
                <a:effectLst/>
                <a:latin typeface="Consolas" panose="020B0609020204030204" pitchFamily="49" charset="0"/>
              </a:rPr>
              <a:t>Alikhan</a:t>
            </a:r>
            <a:r>
              <a:rPr lang="en-US" b="0" dirty="0">
                <a:solidFill>
                  <a:srgbClr val="F8C762"/>
                </a:solidFill>
                <a:effectLst/>
                <a:latin typeface="Consolas" panose="020B0609020204030204" pitchFamily="49" charset="0"/>
              </a:rPr>
              <a:t>]**</a:t>
            </a:r>
            <a:r>
              <a:rPr lang="en-US" b="0" dirty="0">
                <a:solidFill>
                  <a:srgbClr val="E4E4E4"/>
                </a:solidFill>
                <a:effectLst/>
                <a:latin typeface="Consolas" panose="020B0609020204030204" pitchFamily="49" charset="0"/>
              </a:rPr>
              <a:t> - Backend Developer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D6D6DD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b="0" dirty="0">
                <a:solidFill>
                  <a:srgbClr val="E4E4E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F8C762"/>
                </a:solidFill>
                <a:effectLst/>
                <a:latin typeface="Consolas" panose="020B0609020204030204" pitchFamily="49" charset="0"/>
              </a:rPr>
              <a:t>**[</a:t>
            </a:r>
            <a:r>
              <a:rPr lang="en-US" b="0" dirty="0">
                <a:solidFill>
                  <a:srgbClr val="AAA0FA"/>
                </a:solidFill>
                <a:effectLst/>
                <a:latin typeface="Consolas" panose="020B0609020204030204" pitchFamily="49" charset="0"/>
              </a:rPr>
              <a:t>Amirkhan</a:t>
            </a:r>
            <a:r>
              <a:rPr lang="en-US" b="0" dirty="0">
                <a:solidFill>
                  <a:srgbClr val="F8C762"/>
                </a:solidFill>
                <a:effectLst/>
                <a:latin typeface="Consolas" panose="020B0609020204030204" pitchFamily="49" charset="0"/>
              </a:rPr>
              <a:t>]**</a:t>
            </a:r>
            <a:r>
              <a:rPr lang="en-US" b="0" dirty="0">
                <a:solidFill>
                  <a:srgbClr val="E4E4E4"/>
                </a:solidFill>
                <a:effectLst/>
                <a:latin typeface="Consolas" panose="020B0609020204030204" pitchFamily="49" charset="0"/>
              </a:rPr>
              <a:t> - Frontend Developer"</a:t>
            </a:r>
          </a:p>
        </p:txBody>
      </p:sp>
    </p:spTree>
    <p:extLst>
      <p:ext uri="{BB962C8B-B14F-4D97-AF65-F5344CB8AC3E}">
        <p14:creationId xmlns:p14="http://schemas.microsoft.com/office/powerpoint/2010/main" val="992741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5F7401-8339-1829-BE25-D775D1BE8B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0B3B55B-0FC6-7D2B-6A10-05D57BE9FCD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10233"/>
              </a:gs>
              <a:gs pos="100000">
                <a:srgbClr val="000001"/>
              </a:gs>
            </a:gsLst>
            <a:lin ang="5400000" scaled="1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7000" spc="-300" dirty="0">
              <a:latin typeface="Monotype Corsiva" panose="03010101010201010101" pitchFamily="66" charset="0"/>
              <a:ea typeface="Monaspace Neon ExtraBold" panose="02000009000000000000" pitchFamily="49" charset="0"/>
              <a:cs typeface="Monaspace Neon ExtraBold" panose="02000009000000000000" pitchFamily="49" charset="0"/>
            </a:endParaRPr>
          </a:p>
        </p:txBody>
      </p:sp>
      <p:pic>
        <p:nvPicPr>
          <p:cNvPr id="7" name="Picture 6" descr="A blue and white background&#10;&#10;AI-generated content may be incorrect.">
            <a:extLst>
              <a:ext uri="{FF2B5EF4-FFF2-40B4-BE49-F238E27FC236}">
                <a16:creationId xmlns:a16="http://schemas.microsoft.com/office/drawing/2014/main" id="{8D3DB742-DCA2-3858-6C2E-063206B62F5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5C321BD-B499-0A33-DA89-723AD4513D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4465" y="1353007"/>
            <a:ext cx="9543069" cy="4151985"/>
          </a:xfrm>
          <a:prstGeom prst="rect">
            <a:avLst/>
          </a:prstGeom>
        </p:spPr>
      </p:pic>
      <p:pic>
        <p:nvPicPr>
          <p:cNvPr id="13" name="Picture 12" descr="A group of colorful icons">
            <a:extLst>
              <a:ext uri="{FF2B5EF4-FFF2-40B4-BE49-F238E27FC236}">
                <a16:creationId xmlns:a16="http://schemas.microsoft.com/office/drawing/2014/main" id="{A45FEEEB-A2C2-3295-2F2E-6853E88967E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64400" y="1943100"/>
            <a:ext cx="6858000" cy="685800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B7D616C4-718A-490D-5E23-BFF781B471DB}"/>
              </a:ext>
            </a:extLst>
          </p:cNvPr>
          <p:cNvSpPr txBox="1"/>
          <p:nvPr/>
        </p:nvSpPr>
        <p:spPr>
          <a:xfrm>
            <a:off x="2603500" y="6448120"/>
            <a:ext cx="6972300" cy="28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25"/>
              </a:lnSpc>
              <a:buNone/>
            </a:pPr>
            <a:r>
              <a:rPr lang="en-US" b="0" dirty="0">
                <a:solidFill>
                  <a:srgbClr val="F8C762"/>
                </a:solidFill>
                <a:effectLst/>
                <a:latin typeface="Consolas" panose="020B0609020204030204" pitchFamily="49" charset="0"/>
              </a:rPr>
              <a:t>**SLIDE 2: Project Overview &amp; Goals**</a:t>
            </a:r>
            <a:endParaRPr lang="en-US" b="0" dirty="0">
              <a:solidFill>
                <a:srgbClr val="E4E4E4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D49F0A3-7B84-4E15-6B9A-2497775AE4B3}"/>
              </a:ext>
            </a:extLst>
          </p:cNvPr>
          <p:cNvSpPr/>
          <p:nvPr/>
        </p:nvSpPr>
        <p:spPr>
          <a:xfrm>
            <a:off x="266700" y="317500"/>
            <a:ext cx="4229100" cy="16256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4EF98BF-6909-D75B-9F67-AA03A02976AB}"/>
              </a:ext>
            </a:extLst>
          </p:cNvPr>
          <p:cNvSpPr txBox="1"/>
          <p:nvPr/>
        </p:nvSpPr>
        <p:spPr>
          <a:xfrm>
            <a:off x="266700" y="336550"/>
            <a:ext cx="4229100" cy="1879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1100" b="0" dirty="0">
                <a:solidFill>
                  <a:srgbClr val="E4E4E4"/>
                </a:solidFill>
                <a:effectLst/>
                <a:latin typeface="Consolas" panose="020B0609020204030204" pitchFamily="49" charset="0"/>
              </a:rPr>
              <a:t>"Our main goals were to:</a:t>
            </a:r>
          </a:p>
          <a:p>
            <a:pPr>
              <a:lnSpc>
                <a:spcPts val="1425"/>
              </a:lnSpc>
              <a:buNone/>
            </a:pPr>
            <a:r>
              <a:rPr lang="en-US" sz="1100" b="0" dirty="0">
                <a:solidFill>
                  <a:srgbClr val="D6D6DD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sz="1100" b="0" dirty="0">
                <a:solidFill>
                  <a:srgbClr val="E4E4E4"/>
                </a:solidFill>
                <a:effectLst/>
                <a:latin typeface="Consolas" panose="020B0609020204030204" pitchFamily="49" charset="0"/>
              </a:rPr>
              <a:t> Create a professional platform to showcase our individual skills and projects</a:t>
            </a:r>
          </a:p>
          <a:p>
            <a:pPr>
              <a:lnSpc>
                <a:spcPts val="1425"/>
              </a:lnSpc>
              <a:buNone/>
            </a:pPr>
            <a:r>
              <a:rPr lang="en-US" sz="1100" b="0" dirty="0">
                <a:solidFill>
                  <a:srgbClr val="D6D6DD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sz="1100" b="0" dirty="0">
                <a:solidFill>
                  <a:srgbClr val="E4E4E4"/>
                </a:solidFill>
                <a:effectLst/>
                <a:latin typeface="Consolas" panose="020B0609020204030204" pitchFamily="49" charset="0"/>
              </a:rPr>
              <a:t> Demonstrate modern web development practices</a:t>
            </a:r>
          </a:p>
          <a:p>
            <a:pPr>
              <a:lnSpc>
                <a:spcPts val="1425"/>
              </a:lnSpc>
              <a:buNone/>
            </a:pPr>
            <a:r>
              <a:rPr lang="en-US" sz="1100" b="0" dirty="0">
                <a:solidFill>
                  <a:srgbClr val="D6D6DD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sz="1100" b="0" dirty="0">
                <a:solidFill>
                  <a:srgbClr val="E4E4E4"/>
                </a:solidFill>
                <a:effectLst/>
                <a:latin typeface="Consolas" panose="020B0609020204030204" pitchFamily="49" charset="0"/>
              </a:rPr>
              <a:t> Build a fully responsive website that works on all devices</a:t>
            </a:r>
          </a:p>
          <a:p>
            <a:pPr>
              <a:lnSpc>
                <a:spcPts val="1425"/>
              </a:lnSpc>
              <a:buNone/>
            </a:pPr>
            <a:r>
              <a:rPr lang="en-US" sz="1100" b="0" dirty="0">
                <a:solidFill>
                  <a:srgbClr val="D6D6DD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sz="1100" b="0" dirty="0">
                <a:solidFill>
                  <a:srgbClr val="E4E4E4"/>
                </a:solidFill>
                <a:effectLst/>
                <a:latin typeface="Consolas" panose="020B0609020204030204" pitchFamily="49" charset="0"/>
              </a:rPr>
              <a:t> Implement interactive features like search, filtering, and authentication"</a:t>
            </a:r>
          </a:p>
          <a:p>
            <a:pPr>
              <a:lnSpc>
                <a:spcPts val="1425"/>
              </a:lnSpc>
              <a:buNone/>
            </a:pPr>
            <a:br>
              <a:rPr lang="en-US" sz="1100" b="0" dirty="0">
                <a:solidFill>
                  <a:srgbClr val="E4E4E4"/>
                </a:solidFill>
                <a:effectLst/>
                <a:latin typeface="Consolas" panose="020B0609020204030204" pitchFamily="49" charset="0"/>
              </a:rPr>
            </a:br>
            <a:endParaRPr lang="en-US" sz="1100" b="0" dirty="0">
              <a:solidFill>
                <a:srgbClr val="E4E4E4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467952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E155BA-5FD8-E8B0-4C82-CB50A2D507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308CBB6-1ABC-626D-A196-310F750C4D3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10233"/>
              </a:gs>
              <a:gs pos="100000">
                <a:srgbClr val="000001"/>
              </a:gs>
            </a:gsLst>
            <a:lin ang="5400000" scaled="1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7000" spc="-300" dirty="0">
              <a:latin typeface="Monotype Corsiva" panose="03010101010201010101" pitchFamily="66" charset="0"/>
              <a:ea typeface="Monaspace Neon ExtraBold" panose="02000009000000000000" pitchFamily="49" charset="0"/>
              <a:cs typeface="Monaspace Neon ExtraBold" panose="02000009000000000000" pitchFamily="49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EAF0A98-CEAA-ABA5-F6C7-A6375A36092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897A725-D42F-9F95-19EA-24D8A34AE6AF}"/>
              </a:ext>
            </a:extLst>
          </p:cNvPr>
          <p:cNvSpPr txBox="1"/>
          <p:nvPr/>
        </p:nvSpPr>
        <p:spPr>
          <a:xfrm>
            <a:off x="3043238" y="6486220"/>
            <a:ext cx="6105524" cy="28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25"/>
              </a:lnSpc>
              <a:buNone/>
            </a:pPr>
            <a:r>
              <a:rPr lang="en-US" b="0" dirty="0">
                <a:solidFill>
                  <a:srgbClr val="F8C762"/>
                </a:solidFill>
                <a:effectLst/>
                <a:latin typeface="Consolas" panose="020B0609020204030204" pitchFamily="49" charset="0"/>
              </a:rPr>
              <a:t>**SLIDE 3: Target Users &amp; Inspiration**</a:t>
            </a:r>
            <a:endParaRPr lang="en-US" b="0" dirty="0">
              <a:solidFill>
                <a:srgbClr val="E4E4E4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1" name="Text 0">
            <a:extLst>
              <a:ext uri="{FF2B5EF4-FFF2-40B4-BE49-F238E27FC236}">
                <a16:creationId xmlns:a16="http://schemas.microsoft.com/office/drawing/2014/main" id="{99ACAE0E-33B5-A794-2BA4-6CA09A024FF9}"/>
              </a:ext>
            </a:extLst>
          </p:cNvPr>
          <p:cNvSpPr/>
          <p:nvPr/>
        </p:nvSpPr>
        <p:spPr>
          <a:xfrm>
            <a:off x="308016" y="1270099"/>
            <a:ext cx="760897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5550"/>
              </a:lnSpc>
              <a:buNone/>
            </a:pPr>
            <a:r>
              <a:rPr lang="en-US" sz="2800" b="1" dirty="0">
                <a:solidFill>
                  <a:srgbClr val="97B8FF"/>
                </a:solidFill>
                <a:latin typeface="Unbounded" pitchFamily="2" charset="-52"/>
                <a:ea typeface="Sora Medium" pitchFamily="34" charset="-122"/>
                <a:cs typeface="Sora Medium" pitchFamily="34" charset="-120"/>
              </a:rPr>
              <a:t>Who We Built It For: Target Users</a:t>
            </a:r>
            <a:endParaRPr lang="en-US" sz="2800" b="1" dirty="0">
              <a:latin typeface="Unbounded" pitchFamily="2" charset="-52"/>
            </a:endParaRPr>
          </a:p>
        </p:txBody>
      </p:sp>
      <p:sp>
        <p:nvSpPr>
          <p:cNvPr id="12" name="Text 1">
            <a:extLst>
              <a:ext uri="{FF2B5EF4-FFF2-40B4-BE49-F238E27FC236}">
                <a16:creationId xmlns:a16="http://schemas.microsoft.com/office/drawing/2014/main" id="{6B2BCE02-3979-0A99-9AB4-EAEF539A6007}"/>
              </a:ext>
            </a:extLst>
          </p:cNvPr>
          <p:cNvSpPr/>
          <p:nvPr/>
        </p:nvSpPr>
        <p:spPr>
          <a:xfrm>
            <a:off x="351295" y="2032576"/>
            <a:ext cx="2888694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750"/>
              </a:lnSpc>
              <a:buNone/>
            </a:pPr>
            <a:r>
              <a:rPr lang="en-US" b="1" dirty="0">
                <a:solidFill>
                  <a:srgbClr val="E0D6DE"/>
                </a:solidFill>
                <a:latin typeface="Unbounded" pitchFamily="2" charset="-52"/>
                <a:ea typeface="Sora Medium" pitchFamily="34" charset="-122"/>
                <a:cs typeface="Sora Medium" pitchFamily="34" charset="-120"/>
              </a:rPr>
              <a:t>Potential Employers</a:t>
            </a:r>
            <a:endParaRPr lang="en-US" b="1" dirty="0">
              <a:latin typeface="Unbounded" pitchFamily="2" charset="-52"/>
            </a:endParaRPr>
          </a:p>
        </p:txBody>
      </p:sp>
      <p:sp>
        <p:nvSpPr>
          <p:cNvPr id="14" name="Text 2">
            <a:extLst>
              <a:ext uri="{FF2B5EF4-FFF2-40B4-BE49-F238E27FC236}">
                <a16:creationId xmlns:a16="http://schemas.microsoft.com/office/drawing/2014/main" id="{2DEFD47A-B84F-A2B0-B2C4-E6183BFE8336}"/>
              </a:ext>
            </a:extLst>
          </p:cNvPr>
          <p:cNvSpPr/>
          <p:nvPr/>
        </p:nvSpPr>
        <p:spPr>
          <a:xfrm>
            <a:off x="351295" y="2386906"/>
            <a:ext cx="2888694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1100" dirty="0">
                <a:solidFill>
                  <a:srgbClr val="E0D6DE"/>
                </a:solidFill>
                <a:latin typeface="Unbounded" pitchFamily="2" charset="-52"/>
                <a:ea typeface="Noto Sans TC" pitchFamily="34" charset="-122"/>
                <a:cs typeface="Noto Sans TC" pitchFamily="34" charset="-120"/>
              </a:rPr>
              <a:t>Offering a centralized, high-quality viewing experience of our collective and individual capabilities.</a:t>
            </a:r>
            <a:endParaRPr lang="en-US" sz="1100" dirty="0">
              <a:latin typeface="Unbounded" pitchFamily="2" charset="-52"/>
            </a:endParaRPr>
          </a:p>
        </p:txBody>
      </p:sp>
      <p:sp>
        <p:nvSpPr>
          <p:cNvPr id="17" name="Text 3">
            <a:extLst>
              <a:ext uri="{FF2B5EF4-FFF2-40B4-BE49-F238E27FC236}">
                <a16:creationId xmlns:a16="http://schemas.microsoft.com/office/drawing/2014/main" id="{75B484E7-18F9-DAFF-8521-262D9262A06C}"/>
              </a:ext>
            </a:extLst>
          </p:cNvPr>
          <p:cNvSpPr/>
          <p:nvPr/>
        </p:nvSpPr>
        <p:spPr>
          <a:xfrm>
            <a:off x="3843338" y="203287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750"/>
              </a:lnSpc>
              <a:buNone/>
            </a:pPr>
            <a:r>
              <a:rPr lang="en-US" b="1" dirty="0">
                <a:solidFill>
                  <a:srgbClr val="E0D6DE"/>
                </a:solidFill>
                <a:latin typeface="Unbounded" pitchFamily="2" charset="-52"/>
                <a:ea typeface="Sora Medium" pitchFamily="34" charset="-122"/>
                <a:cs typeface="Sora Medium" pitchFamily="34" charset="-120"/>
              </a:rPr>
              <a:t>Future Clients</a:t>
            </a:r>
            <a:endParaRPr lang="en-US" b="1" dirty="0">
              <a:latin typeface="Unbounded" pitchFamily="2" charset="-52"/>
            </a:endParaRPr>
          </a:p>
        </p:txBody>
      </p:sp>
      <p:sp>
        <p:nvSpPr>
          <p:cNvPr id="19" name="Text 4">
            <a:extLst>
              <a:ext uri="{FF2B5EF4-FFF2-40B4-BE49-F238E27FC236}">
                <a16:creationId xmlns:a16="http://schemas.microsoft.com/office/drawing/2014/main" id="{41AB272B-AD0A-BAB0-C7F2-DC57C8C00939}"/>
              </a:ext>
            </a:extLst>
          </p:cNvPr>
          <p:cNvSpPr/>
          <p:nvPr/>
        </p:nvSpPr>
        <p:spPr>
          <a:xfrm>
            <a:off x="3843338" y="2386906"/>
            <a:ext cx="283523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1100" dirty="0">
                <a:solidFill>
                  <a:srgbClr val="E0D6DE"/>
                </a:solidFill>
                <a:latin typeface="Unbounded" pitchFamily="2" charset="-52"/>
                <a:ea typeface="Noto Sans TC" pitchFamily="34" charset="-122"/>
                <a:cs typeface="Noto Sans TC" pitchFamily="34" charset="-120"/>
              </a:rPr>
              <a:t>Demonstrating our expertise through live examples of project execution and design proficiency.</a:t>
            </a:r>
            <a:endParaRPr lang="en-US" sz="1100" dirty="0">
              <a:latin typeface="Unbounded" pitchFamily="2" charset="-52"/>
            </a:endParaRPr>
          </a:p>
        </p:txBody>
      </p:sp>
      <p:sp>
        <p:nvSpPr>
          <p:cNvPr id="20" name="Text 5">
            <a:extLst>
              <a:ext uri="{FF2B5EF4-FFF2-40B4-BE49-F238E27FC236}">
                <a16:creationId xmlns:a16="http://schemas.microsoft.com/office/drawing/2014/main" id="{E4241D50-FA69-5CFF-AC4A-7201C3D74A76}"/>
              </a:ext>
            </a:extLst>
          </p:cNvPr>
          <p:cNvSpPr/>
          <p:nvPr/>
        </p:nvSpPr>
        <p:spPr>
          <a:xfrm>
            <a:off x="351295" y="329267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750"/>
              </a:lnSpc>
              <a:buNone/>
            </a:pPr>
            <a:r>
              <a:rPr lang="en-US" b="1" dirty="0">
                <a:solidFill>
                  <a:srgbClr val="E0D6DE"/>
                </a:solidFill>
                <a:latin typeface="Unbounded" pitchFamily="2" charset="-52"/>
                <a:ea typeface="Sora Medium" pitchFamily="34" charset="-122"/>
                <a:cs typeface="Sora Medium" pitchFamily="34" charset="-120"/>
              </a:rPr>
              <a:t>Fellow Developers</a:t>
            </a:r>
            <a:endParaRPr lang="en-US" b="1" dirty="0">
              <a:latin typeface="Unbounded" pitchFamily="2" charset="-52"/>
            </a:endParaRPr>
          </a:p>
        </p:txBody>
      </p:sp>
      <p:sp>
        <p:nvSpPr>
          <p:cNvPr id="21" name="Text 6">
            <a:extLst>
              <a:ext uri="{FF2B5EF4-FFF2-40B4-BE49-F238E27FC236}">
                <a16:creationId xmlns:a16="http://schemas.microsoft.com/office/drawing/2014/main" id="{CEFD6D5D-B1FC-64E7-DF30-53BCD330AA06}"/>
              </a:ext>
            </a:extLst>
          </p:cNvPr>
          <p:cNvSpPr/>
          <p:nvPr/>
        </p:nvSpPr>
        <p:spPr>
          <a:xfrm>
            <a:off x="351295" y="3647000"/>
            <a:ext cx="253043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1100" dirty="0">
                <a:solidFill>
                  <a:srgbClr val="E0D6DE"/>
                </a:solidFill>
                <a:latin typeface="Unbounded" pitchFamily="2" charset="-52"/>
                <a:ea typeface="Noto Sans TC" pitchFamily="34" charset="-122"/>
                <a:cs typeface="Noto Sans TC" pitchFamily="34" charset="-120"/>
              </a:rPr>
              <a:t>Providing a resource for inspiration, open-source code exploration, and collaboration opportunities.</a:t>
            </a:r>
            <a:endParaRPr lang="en-US" sz="1100" dirty="0">
              <a:latin typeface="Unbounded" pitchFamily="2" charset="-52"/>
            </a:endParaRPr>
          </a:p>
        </p:txBody>
      </p:sp>
      <p:sp>
        <p:nvSpPr>
          <p:cNvPr id="22" name="Text 7">
            <a:extLst>
              <a:ext uri="{FF2B5EF4-FFF2-40B4-BE49-F238E27FC236}">
                <a16:creationId xmlns:a16="http://schemas.microsoft.com/office/drawing/2014/main" id="{8B205024-C333-888A-AD66-77EA743ED3C0}"/>
              </a:ext>
            </a:extLst>
          </p:cNvPr>
          <p:cNvSpPr/>
          <p:nvPr/>
        </p:nvSpPr>
        <p:spPr>
          <a:xfrm>
            <a:off x="308016" y="898683"/>
            <a:ext cx="6343174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1100" dirty="0">
                <a:solidFill>
                  <a:srgbClr val="E0D6DE"/>
                </a:solidFill>
                <a:latin typeface="Unbounded" pitchFamily="2" charset="-52"/>
                <a:ea typeface="Noto Sans TC" pitchFamily="34" charset="-122"/>
                <a:cs typeface="Noto Sans TC" pitchFamily="34" charset="-120"/>
              </a:rPr>
              <a:t>This project was inspired by the collective need for a </a:t>
            </a:r>
            <a:r>
              <a:rPr lang="en-US" sz="1100" dirty="0">
                <a:solidFill>
                  <a:srgbClr val="97B8FF"/>
                </a:solidFill>
                <a:latin typeface="Unbounded" pitchFamily="2" charset="-52"/>
                <a:ea typeface="Noto Sans TC" pitchFamily="34" charset="-122"/>
                <a:cs typeface="Noto Sans TC" pitchFamily="34" charset="-120"/>
              </a:rPr>
              <a:t>professional, unified presence</a:t>
            </a:r>
            <a:r>
              <a:rPr lang="en-US" sz="1100" dirty="0">
                <a:solidFill>
                  <a:srgbClr val="E0D6DE"/>
                </a:solidFill>
                <a:latin typeface="Unbounded" pitchFamily="2" charset="-52"/>
                <a:ea typeface="Noto Sans TC" pitchFamily="34" charset="-122"/>
                <a:cs typeface="Noto Sans TC" pitchFamily="34" charset="-120"/>
              </a:rPr>
              <a:t> to present our diverse skills as Computer Science students.</a:t>
            </a:r>
            <a:endParaRPr lang="en-US" sz="1100" dirty="0">
              <a:latin typeface="Unbounded" pitchFamily="2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1762091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0D9D91-E0A7-D241-B1E1-8A23D413B0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F6C8B89-C6B1-29C4-B9CB-70F37E0989E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10233"/>
              </a:gs>
              <a:gs pos="100000">
                <a:srgbClr val="000001"/>
              </a:gs>
            </a:gsLst>
            <a:lin ang="5400000" scaled="1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7000" spc="-300" dirty="0">
              <a:latin typeface="Monotype Corsiva" panose="03010101010201010101" pitchFamily="66" charset="0"/>
              <a:ea typeface="Monaspace Neon ExtraBold" panose="02000009000000000000" pitchFamily="49" charset="0"/>
              <a:cs typeface="Monaspace Neon ExtraBold" panose="02000009000000000000" pitchFamily="49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05FF7C3-4F7B-0B9A-44A6-15EEF1BC303F}"/>
              </a:ext>
            </a:extLst>
          </p:cNvPr>
          <p:cNvSpPr txBox="1"/>
          <p:nvPr/>
        </p:nvSpPr>
        <p:spPr>
          <a:xfrm>
            <a:off x="3043238" y="3285820"/>
            <a:ext cx="6105524" cy="28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F8C762"/>
                </a:solidFill>
                <a:effectLst/>
                <a:latin typeface="Consolas" panose="020B0609020204030204" pitchFamily="49" charset="0"/>
              </a:rPr>
              <a:t>**SLIDE 4: Main Hub Page &amp; Design Aesthetics**</a:t>
            </a:r>
            <a:endParaRPr lang="en-US" b="0" dirty="0">
              <a:solidFill>
                <a:srgbClr val="E4E4E4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473809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88</TotalTime>
  <Words>192</Words>
  <Application>Microsoft Office PowerPoint</Application>
  <PresentationFormat>Widescreen</PresentationFormat>
  <Paragraphs>22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1" baseType="lpstr">
      <vt:lpstr>Aptos</vt:lpstr>
      <vt:lpstr>Aptos Display</vt:lpstr>
      <vt:lpstr>Arial</vt:lpstr>
      <vt:lpstr>Consolas</vt:lpstr>
      <vt:lpstr>Monotype Corsiva</vt:lpstr>
      <vt:lpstr>Unbounded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Timur Ryabov</dc:creator>
  <cp:lastModifiedBy>Timur Ryabov</cp:lastModifiedBy>
  <cp:revision>4</cp:revision>
  <dcterms:created xsi:type="dcterms:W3CDTF">2025-11-11T07:53:26Z</dcterms:created>
  <dcterms:modified xsi:type="dcterms:W3CDTF">2025-11-11T10:02:33Z</dcterms:modified>
</cp:coreProperties>
</file>